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5555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2400" y="12695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0101" y="12695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0C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802" y="12695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16C7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33718" y="1417737"/>
            <a:ext cx="4076563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54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microgpt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533718" y="2300288"/>
            <a:ext cx="40765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行纯 Python，零依赖，一个完整的 GPT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33718" y="2662238"/>
            <a:ext cx="4076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4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Autograd + Transformer + Adam，逐行拆解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64050" y="3290888"/>
            <a:ext cx="1015901" cy="25301"/>
          </a:xfrm>
          <a:prstGeom prst="roundRect">
            <a:avLst>
              <a:gd name="adj" fmla="val 50196"/>
            </a:avLst>
          </a:prstGeom>
          <a:solidFill>
            <a:srgbClr val="16C7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33718" y="3519339"/>
            <a:ext cx="40765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Andrej Karpathy's microgpt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33718" y="3779639"/>
            <a:ext cx="4076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面向程序员 | 代码 + 公式 + 原理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28600"/>
            <a:ext cx="849802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./microgpt.py --overview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-3721" y="1114276"/>
            <a:ext cx="1335137" cy="825252"/>
          </a:xfrm>
          <a:prstGeom prst="roundRect">
            <a:avLst>
              <a:gd name="adj" fmla="val 12311"/>
            </a:avLst>
          </a:prstGeom>
          <a:solidFill>
            <a:srgbClr val="1A1A2E"/>
          </a:solidFill>
          <a:ln w="19050">
            <a:solidFill>
              <a:srgbClr val="16C7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7807" y="1260277"/>
            <a:ext cx="1012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7807" y="1444377"/>
            <a:ext cx="10120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数据集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7807" y="1650653"/>
            <a:ext cx="10120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77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32K 名字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56717" y="1288703"/>
            <a:ext cx="18110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9570" y="1114276"/>
            <a:ext cx="1335137" cy="825252"/>
          </a:xfrm>
          <a:prstGeom prst="roundRect">
            <a:avLst>
              <a:gd name="adj" fmla="val 12311"/>
            </a:avLst>
          </a:prstGeom>
          <a:solidFill>
            <a:srgbClr val="1A1A2E"/>
          </a:solidFill>
          <a:ln w="19050">
            <a:solidFill>
              <a:srgbClr val="16C7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721098" y="1260277"/>
            <a:ext cx="1012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21098" y="1444377"/>
            <a:ext cx="10120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分词器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21098" y="1650653"/>
            <a:ext cx="10120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77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字符级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20008" y="1288703"/>
            <a:ext cx="18110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22861" y="1114276"/>
            <a:ext cx="1335137" cy="825252"/>
          </a:xfrm>
          <a:prstGeom prst="roundRect">
            <a:avLst>
              <a:gd name="adj" fmla="val 12311"/>
            </a:avLst>
          </a:prstGeom>
          <a:solidFill>
            <a:srgbClr val="1A1A2E"/>
          </a:solidFill>
          <a:ln w="19050">
            <a:solidFill>
              <a:srgbClr val="16C7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84388" y="1260277"/>
            <a:ext cx="1012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84388" y="1444377"/>
            <a:ext cx="10120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自动微分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84388" y="1650653"/>
            <a:ext cx="10120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77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类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83298" y="1288703"/>
            <a:ext cx="18110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86151" y="1128564"/>
            <a:ext cx="1335137" cy="796677"/>
          </a:xfrm>
          <a:prstGeom prst="roundRect">
            <a:avLst>
              <a:gd name="adj" fmla="val 12753"/>
            </a:avLst>
          </a:prstGeom>
          <a:solidFill>
            <a:srgbClr val="1A1A2E"/>
          </a:solidFill>
          <a:ln w="19050">
            <a:solidFill>
              <a:srgbClr val="16C7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47679" y="1274564"/>
            <a:ext cx="1012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7679" y="1458664"/>
            <a:ext cx="10120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模型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7679" y="1664940"/>
            <a:ext cx="10120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77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46589" y="1288703"/>
            <a:ext cx="18110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49442" y="1114276"/>
            <a:ext cx="1335137" cy="825252"/>
          </a:xfrm>
          <a:prstGeom prst="roundRect">
            <a:avLst>
              <a:gd name="adj" fmla="val 12311"/>
            </a:avLst>
          </a:prstGeom>
          <a:solidFill>
            <a:srgbClr val="1A1A2E"/>
          </a:solidFill>
          <a:ln w="19050">
            <a:solidFill>
              <a:srgbClr val="16C7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10969" y="1260277"/>
            <a:ext cx="1012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10969" y="1444377"/>
            <a:ext cx="10120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训练循环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10969" y="1650653"/>
            <a:ext cx="10120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77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优化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609880" y="1288703"/>
            <a:ext cx="18110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812732" y="1114276"/>
            <a:ext cx="1335137" cy="825252"/>
          </a:xfrm>
          <a:prstGeom prst="roundRect">
            <a:avLst>
              <a:gd name="adj" fmla="val 12311"/>
            </a:avLst>
          </a:prstGeom>
          <a:solidFill>
            <a:srgbClr val="1A1A2E"/>
          </a:solidFill>
          <a:ln w="19050">
            <a:solidFill>
              <a:srgbClr val="16C7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974260" y="1260277"/>
            <a:ext cx="1012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74260" y="1444377"/>
            <a:ext cx="10120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推理生成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74260" y="1650653"/>
            <a:ext cx="10120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77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采样输出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06301" y="2244179"/>
            <a:ext cx="2658666" cy="1208336"/>
          </a:xfrm>
          <a:prstGeom prst="roundRect">
            <a:avLst>
              <a:gd name="adj" fmla="val 6306"/>
            </a:avLst>
          </a:prstGeom>
          <a:solidFill>
            <a:srgbClr val="161630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68226" y="2406104"/>
            <a:ext cx="23815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8226" y="2682329"/>
            <a:ext cx="2381512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32,000 个英文名字（emma, olivia, ava...）逐行存储在文本文件中。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8226" y="3070920"/>
            <a:ext cx="2381512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 = [line.strip() ...]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42667" y="2244179"/>
            <a:ext cx="2658666" cy="1208336"/>
          </a:xfrm>
          <a:prstGeom prst="roundRect">
            <a:avLst>
              <a:gd name="adj" fmla="val 6306"/>
            </a:avLst>
          </a:prstGeom>
          <a:solidFill>
            <a:srgbClr val="161630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404592" y="2406104"/>
            <a:ext cx="23815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过程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04592" y="2682329"/>
            <a:ext cx="2381512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字符变 token，Autograd 自动记录计算图，GPT 逐字预测下一个字符。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404592" y="3070920"/>
            <a:ext cx="2381512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 = gpt(token, pos)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079034" y="2244179"/>
            <a:ext cx="2658666" cy="1208336"/>
          </a:xfrm>
          <a:prstGeom prst="roundRect">
            <a:avLst>
              <a:gd name="adj" fmla="val 6306"/>
            </a:avLst>
          </a:prstGeom>
          <a:solidFill>
            <a:srgbClr val="161630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240959" y="2406104"/>
            <a:ext cx="23815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40959" y="2682329"/>
            <a:ext cx="2381512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模型"幻觉"出新名字：kamon、ann、karai、deliah...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40959" y="3070920"/>
            <a:ext cx="2381512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sample: karai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4926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28600"/>
            <a:ext cx="397971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Autograd：标量级自动微分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60379" y="393799"/>
            <a:ext cx="761851" cy="231577"/>
          </a:xfrm>
          <a:prstGeom prst="roundRect">
            <a:avLst>
              <a:gd name="adj" fmla="val 16452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87329" y="419100"/>
            <a:ext cx="518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06301" y="1012627"/>
            <a:ext cx="4428679" cy="1346002"/>
          </a:xfrm>
          <a:prstGeom prst="rect">
            <a:avLst/>
          </a:prstGeom>
          <a:solidFill>
            <a:srgbClr val="1616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0113" y="1012627"/>
            <a:ext cx="0" cy="1346002"/>
          </a:xfrm>
          <a:prstGeom prst="line">
            <a:avLst/>
          </a:prstGeom>
          <a:noFill/>
          <a:ln w="47625">
            <a:solidFill>
              <a:srgbClr val="F0C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076" y="1190327"/>
            <a:ext cx="405424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核心思想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7076" y="1510308"/>
            <a:ext cx="4054248" cy="67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将每个标量运算封装为计算图节点。前向传播时构建 DAG 并记录局部导数，反向传播时通过拓扑排序逆序遍历，应用链式法则自动计算梯度。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301" y="2511028"/>
            <a:ext cx="4517252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 </a:t>
            </a:r>
            <a:pPr algn="l" indent="0" marL="0">
              <a:lnSpc>
                <a:spcPts val="176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pPr algn="l" indent="0" marL="0">
              <a:lnSpc>
                <a:spcPts val="176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节点维护 4 个字段：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301" y="2861518"/>
            <a:ext cx="4428679" cy="1466106"/>
          </a:xfrm>
          <a:prstGeom prst="roundRect">
            <a:avLst>
              <a:gd name="adj" fmla="val 5197"/>
            </a:avLst>
          </a:prstGeom>
          <a:solidFill>
            <a:srgbClr val="1A1A2E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8226" y="3023443"/>
            <a:ext cx="41869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8226" y="3251895"/>
            <a:ext cx="41869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self.data 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55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标量值（前向计算结果）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8226" y="3480346"/>
            <a:ext cx="41869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self.grad 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55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dL/d(self)，反向传播计算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8226" y="3708797"/>
            <a:ext cx="41869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self._children 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55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输入节点（DAG 的边）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8226" y="3937248"/>
            <a:ext cx="41869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self._local_grads 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55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d(self)/d(child_i)，局部偏导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14330" y="1012627"/>
            <a:ext cx="3623370" cy="2046684"/>
          </a:xfrm>
          <a:prstGeom prst="roundRect">
            <a:avLst>
              <a:gd name="adj" fmla="val 3723"/>
            </a:avLst>
          </a:prstGeom>
          <a:solidFill>
            <a:srgbClr val="1A1A2E"/>
          </a:solidFill>
          <a:ln w="9525">
            <a:solidFill>
              <a:srgbClr val="16C7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76255" y="1174552"/>
            <a:ext cx="33655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运算符重载实现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76255" y="1476077"/>
            <a:ext cx="3365510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的 __add__、__mul__ 等魔术方法被重写：每次运算同时执行前向计算和构图。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76255" y="1932980"/>
            <a:ext cx="3365510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+ b  --&gt;  Value(a+b, children=(a,b), grads=(1,1))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76255" y="2174081"/>
            <a:ext cx="3365510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* b  --&gt;  Value(a*b, children=(a,b), grads=(b,a))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76255" y="2465933"/>
            <a:ext cx="3365510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调用方无需任何修改，正常写数学表达式即可。计算图在运算过程中隐式构建。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14330" y="3186261"/>
            <a:ext cx="3623370" cy="1011436"/>
          </a:xfrm>
          <a:prstGeom prst="roundRect">
            <a:avLst>
              <a:gd name="adj" fmla="val 7534"/>
            </a:avLst>
          </a:prstGeom>
          <a:solidFill>
            <a:srgbClr val="161630"/>
          </a:solidFill>
          <a:ln w="9525">
            <a:solidFill>
              <a:srgbClr val="F0C0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50805" y="3322737"/>
            <a:ext cx="34174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 PyTorch 的对应关系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50805" y="3554462"/>
            <a:ext cx="3417427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对应 torch.Tensor（标量版），backward() 对应 loss.backward()，原理完全一致，只是 PyTorch 操作的是张量且用 C++/CUDA 实现。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4926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28600"/>
            <a:ext cx="31089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前向传播：构建计算图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06701" y="412849"/>
            <a:ext cx="795040" cy="193477"/>
          </a:xfrm>
          <a:prstGeom prst="roundRect">
            <a:avLst>
              <a:gd name="adj" fmla="val 19692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33651" y="438150"/>
            <a:ext cx="5519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1/2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06301" y="1012627"/>
            <a:ext cx="45315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每种运算在计算 </a:t>
            </a:r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</a:t>
            </a:r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的同时，记录 </a:t>
            </a:r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f'(x)</a:t>
            </a:r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（局部偏导数）：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6301" y="1349127"/>
            <a:ext cx="4442668" cy="2573536"/>
          </a:xfrm>
          <a:prstGeom prst="roundRect">
            <a:avLst>
              <a:gd name="adj" fmla="val 2961"/>
            </a:avLst>
          </a:prstGeom>
          <a:solidFill>
            <a:srgbClr val="1A1A2E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68226" y="1798290"/>
            <a:ext cx="4118818" cy="0"/>
          </a:xfrm>
          <a:prstGeom prst="line">
            <a:avLst/>
          </a:prstGeom>
          <a:noFill/>
          <a:ln w="9525">
            <a:solidFill>
              <a:srgbClr val="1E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8226" y="1561802"/>
            <a:ext cx="7772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运算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30226" y="1561802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f(x,y)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19176" y="1561802"/>
            <a:ext cx="25172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局部偏导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8226" y="2115592"/>
            <a:ext cx="4118818" cy="0"/>
          </a:xfrm>
          <a:prstGeom prst="line">
            <a:avLst/>
          </a:prstGeom>
          <a:noFill/>
          <a:ln w="9525">
            <a:solidFill>
              <a:srgbClr val="1E1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8226" y="1917204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 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30226" y="1917204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 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19176" y="1917204"/>
            <a:ext cx="25172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0C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df/dx=1, df/dy=1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8226" y="2432893"/>
            <a:ext cx="4118818" cy="0"/>
          </a:xfrm>
          <a:prstGeom prst="line">
            <a:avLst/>
          </a:prstGeom>
          <a:noFill/>
          <a:ln w="9525">
            <a:solidFill>
              <a:srgbClr val="1E1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226" y="2234505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* 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30226" y="2234505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* 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19176" y="2234505"/>
            <a:ext cx="25172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0C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df/dx=y, df/dy=x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8226" y="2750195"/>
            <a:ext cx="4118818" cy="0"/>
          </a:xfrm>
          <a:prstGeom prst="line">
            <a:avLst/>
          </a:prstGeom>
          <a:noFill/>
          <a:ln w="9525">
            <a:solidFill>
              <a:srgbClr val="1E1E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8226" y="2551807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** 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30226" y="2551807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x^n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19176" y="2551807"/>
            <a:ext cx="25172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0C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df/dx = n * x^(n-1)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8226" y="3067496"/>
            <a:ext cx="4118818" cy="0"/>
          </a:xfrm>
          <a:prstGeom prst="line">
            <a:avLst/>
          </a:prstGeom>
          <a:noFill/>
          <a:ln w="9525">
            <a:solidFill>
              <a:srgbClr val="1E1E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226" y="2869109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log(x)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30226" y="2869109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ln(x)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19176" y="2869109"/>
            <a:ext cx="25172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0C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df/dx = 1/x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8226" y="3384798"/>
            <a:ext cx="4118818" cy="0"/>
          </a:xfrm>
          <a:prstGeom prst="line">
            <a:avLst/>
          </a:prstGeom>
          <a:noFill/>
          <a:ln w="9525">
            <a:solidFill>
              <a:srgbClr val="1E1E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8226" y="3186410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exp(x)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30226" y="3186410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e^x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19176" y="3186410"/>
            <a:ext cx="25172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0C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df/dx = e^x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8226" y="3503712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relu(x)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330226" y="3503712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max(0,x)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19176" y="3503712"/>
            <a:ext cx="25172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0C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df/dx = 1(x&gt;0)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02870" y="1012627"/>
            <a:ext cx="3634829" cy="2338536"/>
          </a:xfrm>
          <a:prstGeom prst="roundRect">
            <a:avLst>
              <a:gd name="adj" fmla="val 3258"/>
            </a:avLst>
          </a:prstGeom>
          <a:solidFill>
            <a:srgbClr val="161630"/>
          </a:solidFill>
          <a:ln w="9525">
            <a:solidFill>
              <a:srgbClr val="16C7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264795" y="1174552"/>
            <a:ext cx="33771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构图示例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64795" y="1476077"/>
            <a:ext cx="337719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Value(3), b = Value(4)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64795" y="1717179"/>
            <a:ext cx="337719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a + b 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c=7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64795" y="1958280"/>
            <a:ext cx="337719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F0C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children=(a,b), grads=(1,1)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64795" y="2199382"/>
            <a:ext cx="337719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c * a 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d=21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64795" y="2440484"/>
            <a:ext cx="337719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F0C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children=(c,a), grads=(3,7)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64795" y="2707035"/>
            <a:ext cx="337719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注意 a 被两个节点引用，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64795" y="2948136"/>
            <a:ext cx="337719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反向时梯度会在 a 上累加。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02870" y="3478113"/>
            <a:ext cx="3634829" cy="824954"/>
          </a:xfrm>
          <a:prstGeom prst="rect">
            <a:avLst/>
          </a:prstGeom>
          <a:solidFill>
            <a:srgbClr val="1616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5121920" y="3478113"/>
            <a:ext cx="0" cy="824954"/>
          </a:xfrm>
          <a:prstGeom prst="line">
            <a:avLst/>
          </a:prstGeom>
          <a:noFill/>
          <a:ln w="38100">
            <a:solidFill>
              <a:srgbClr val="F0C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93370" y="3605064"/>
            <a:ext cx="3357768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关键点：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 6 种原子运算通过组合（composition）可以表达任意可微函数。整个 GPT 的前向计算就是这些运算的嵌套调用。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4926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28600"/>
            <a:ext cx="27980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反向传播：链式法则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301901" y="412849"/>
            <a:ext cx="795040" cy="193477"/>
          </a:xfrm>
          <a:prstGeom prst="roundRect">
            <a:avLst>
              <a:gd name="adj" fmla="val 19692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8851" y="438150"/>
            <a:ext cx="5519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2/2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06301" y="961876"/>
            <a:ext cx="4428679" cy="1485007"/>
          </a:xfrm>
          <a:prstGeom prst="rect">
            <a:avLst/>
          </a:prstGeom>
          <a:solidFill>
            <a:srgbClr val="1616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0113" y="961876"/>
            <a:ext cx="0" cy="1485007"/>
          </a:xfrm>
          <a:prstGeom prst="line">
            <a:avLst/>
          </a:prstGeom>
          <a:noFill/>
          <a:ln w="47625">
            <a:solidFill>
              <a:srgbClr val="F0C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1627" y="1088827"/>
            <a:ext cx="410616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Rule（链式法则）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1370" y="1380679"/>
            <a:ext cx="41061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dirty="0">
                <a:solidFill>
                  <a:srgbClr val="F0C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dL/dx_i = dL/dv * dv/dx_i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1627" y="1710779"/>
            <a:ext cx="4106165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其中 v = f(x_1, ..., x_n) 是计算图中的某个节点，L 是最终的 loss。dL/dv 由上游传入（v.grad），dv/dx_i 是前向时记录的局部偏导（local_grad）。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6301" y="2548384"/>
            <a:ext cx="4428679" cy="2180332"/>
          </a:xfrm>
          <a:prstGeom prst="roundRect">
            <a:avLst>
              <a:gd name="adj" fmla="val 3495"/>
            </a:avLst>
          </a:prstGeom>
          <a:solidFill>
            <a:srgbClr val="1A1A2E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8226" y="2710309"/>
            <a:ext cx="41869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ts val="1425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backward(self):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8226" y="2916585"/>
            <a:ext cx="41869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topo = topological_sort(self)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8226" y="3122861"/>
            <a:ext cx="41869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self.grad = 1 </a:t>
            </a:r>
            <a:pPr algn="l" indent="0" marL="0">
              <a:lnSpc>
                <a:spcPts val="1425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55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dL/dL = 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8226" y="3329136"/>
            <a:ext cx="41869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425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 </a:t>
            </a:r>
            <a:pPr algn="l" indent="0" marL="0">
              <a:lnSpc>
                <a:spcPts val="1425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ts val="1425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reversed(topo):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8226" y="3535412"/>
            <a:ext cx="41869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425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child, lg </a:t>
            </a:r>
            <a:pPr algn="l" indent="0" marL="0">
              <a:lnSpc>
                <a:spcPts val="1425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ts val="1425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zip(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8226" y="3741688"/>
            <a:ext cx="41869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v._children, v._local_grads):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8226" y="3947964"/>
            <a:ext cx="41869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child.grad += lg * v.grad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8226" y="4154239"/>
            <a:ext cx="41869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55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+= 因为同一节点可能被多条路径引用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8226" y="4360515"/>
            <a:ext cx="41869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555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对应多元链式法则中的求和项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14330" y="961876"/>
            <a:ext cx="3623370" cy="2122884"/>
          </a:xfrm>
          <a:prstGeom prst="roundRect">
            <a:avLst>
              <a:gd name="adj" fmla="val 3589"/>
            </a:avLst>
          </a:prstGeom>
          <a:solidFill>
            <a:srgbClr val="1A1A2E"/>
          </a:solidFill>
          <a:ln w="9525">
            <a:solidFill>
              <a:srgbClr val="F0C0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76255" y="1123801"/>
            <a:ext cx="33655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多路径梯度累加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76255" y="1425327"/>
            <a:ext cx="3365510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若节点 x 被 v1, v2, ... 引用：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76255" y="1666429"/>
            <a:ext cx="3365510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F0C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dL/dx = sum_i(dL/dv_i * dv_i/dx)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76255" y="1932980"/>
            <a:ext cx="3365510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这就是代码中 += 的数学含义。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76255" y="2199531"/>
            <a:ext cx="3365510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拓扑排序保证：处理节点 v 时，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76255" y="2440632"/>
            <a:ext cx="3365510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所有依赖 v 的下游节点的 grad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76255" y="2681734"/>
            <a:ext cx="3365510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已经计算完毕。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14330" y="3211711"/>
            <a:ext cx="3623370" cy="591741"/>
          </a:xfrm>
          <a:prstGeom prst="rect">
            <a:avLst/>
          </a:prstGeom>
          <a:solidFill>
            <a:srgbClr val="1616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133380" y="3211711"/>
            <a:ext cx="0" cy="591741"/>
          </a:xfrm>
          <a:prstGeom prst="line">
            <a:avLst/>
          </a:prstGeom>
          <a:noFill/>
          <a:ln w="38100">
            <a:solidFill>
              <a:srgbClr val="16C78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4830" y="3338661"/>
            <a:ext cx="3346079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复杂度：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反向传播的时间复杂度与前向传播相同（每条边遍历一次）。空间开销是保存整个计算图（所有中间 Value 节点）。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114330" y="3930402"/>
            <a:ext cx="3623370" cy="842516"/>
          </a:xfrm>
          <a:prstGeom prst="roundRect">
            <a:avLst>
              <a:gd name="adj" fmla="val 9044"/>
            </a:avLst>
          </a:prstGeom>
          <a:solidFill>
            <a:srgbClr val="16163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250805" y="4066877"/>
            <a:ext cx="34174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数值验证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50805" y="4298603"/>
            <a:ext cx="3417427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可以用有限差分 (f(x+h)-f(x))/h 验证梯度正确性。这就是 gradient checking。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4926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28600"/>
            <a:ext cx="18653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三个基础函数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387501" y="393799"/>
            <a:ext cx="761851" cy="231577"/>
          </a:xfrm>
          <a:prstGeom prst="roundRect">
            <a:avLst>
              <a:gd name="adj" fmla="val 16452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14451" y="419100"/>
            <a:ext cx="518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基础组件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5550" y="1012627"/>
            <a:ext cx="2692450" cy="3953173"/>
          </a:xfrm>
          <a:prstGeom prst="roundRect">
            <a:avLst>
              <a:gd name="adj" fmla="val 3774"/>
            </a:avLst>
          </a:prstGeom>
          <a:solidFill>
            <a:srgbClr val="161630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2776" y="1199852"/>
            <a:ext cx="23643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linear(x, w)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2776" y="1485602"/>
            <a:ext cx="236435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矩阵-向量乘法 y = Wx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2776" y="1777454"/>
            <a:ext cx="2317998" cy="777925"/>
          </a:xfrm>
          <a:prstGeom prst="roundRect">
            <a:avLst>
              <a:gd name="adj" fmla="val 6530"/>
            </a:avLst>
          </a:prstGeom>
          <a:solidFill>
            <a:srgbClr val="1A1A2E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3802" y="1888480"/>
            <a:ext cx="21378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[sum(wi*xi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3802" y="2073771"/>
            <a:ext cx="21378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26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wi,xi </a:t>
            </a:r>
            <a:pPr algn="l" indent="0" marL="0">
              <a:lnSpc>
                <a:spcPts val="126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ts val="126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zip(wo,x))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3802" y="2259062"/>
            <a:ext cx="21378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26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 </a:t>
            </a:r>
            <a:pPr algn="l" indent="0" marL="0">
              <a:lnSpc>
                <a:spcPts val="126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ts val="126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2776" y="2656880"/>
            <a:ext cx="2364358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0C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y_j = sum_i(W_ji * x_i)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2776" y="2876550"/>
            <a:ext cx="2364358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为 (n_out x n_in) 矩阵，x 为 n_in 维向量，输出 n_out 维向量。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2776" y="3434953"/>
            <a:ext cx="236435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用于：Q/K/V 投影、MLP、lm_head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25701" y="1012627"/>
            <a:ext cx="2692598" cy="3953173"/>
          </a:xfrm>
          <a:prstGeom prst="roundRect">
            <a:avLst>
              <a:gd name="adj" fmla="val 3773"/>
            </a:avLst>
          </a:prstGeom>
          <a:solidFill>
            <a:srgbClr val="161630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12927" y="1199852"/>
            <a:ext cx="23645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softmax(logits)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12927" y="1485602"/>
            <a:ext cx="2364510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归一化指数函数，输出概率分布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12927" y="1777454"/>
            <a:ext cx="2318147" cy="777925"/>
          </a:xfrm>
          <a:prstGeom prst="roundRect">
            <a:avLst>
              <a:gd name="adj" fmla="val 6530"/>
            </a:avLst>
          </a:prstGeom>
          <a:solidFill>
            <a:srgbClr val="1A1A2E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23952" y="1888480"/>
            <a:ext cx="21380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max_val = max(logits)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23952" y="2073771"/>
            <a:ext cx="21380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exps = [exp(v - max_val) ...]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23952" y="2259062"/>
            <a:ext cx="21380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26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[e/sum(exps) ...]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12927" y="2656880"/>
            <a:ext cx="2364510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0C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P(i) = exp(z_i) / sum_j(exp(z_j))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12927" y="3045470"/>
            <a:ext cx="2364510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 max_val 是数值稳定化技巧（log-sum-exp trick），不改变结果但避免 exp 溢出。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12927" y="3794224"/>
            <a:ext cx="236451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用于：注意力权重、输出概率预测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96000" y="1012627"/>
            <a:ext cx="2692450" cy="3953173"/>
          </a:xfrm>
          <a:prstGeom prst="roundRect">
            <a:avLst>
              <a:gd name="adj" fmla="val 3774"/>
            </a:avLst>
          </a:prstGeom>
          <a:solidFill>
            <a:srgbClr val="161630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83226" y="1199852"/>
            <a:ext cx="23643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0C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rmsnorm(x)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83226" y="1485602"/>
            <a:ext cx="236435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Mean Square Layer Normalization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83226" y="1777454"/>
            <a:ext cx="2317998" cy="777925"/>
          </a:xfrm>
          <a:prstGeom prst="roundRect">
            <a:avLst>
              <a:gd name="adj" fmla="val 6530"/>
            </a:avLst>
          </a:prstGeom>
          <a:solidFill>
            <a:srgbClr val="1A1A2E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394252" y="1888480"/>
            <a:ext cx="21378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 = sum(xi*xi) / len(x)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94252" y="2073771"/>
            <a:ext cx="21378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 = (ms + eps)^(-0.5)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94252" y="2259062"/>
            <a:ext cx="21378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26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[xi * scale ...]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83226" y="2656880"/>
            <a:ext cx="2364358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0C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x_i = x_i / sqrt(mean(x^2) + eps)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83226" y="3045470"/>
            <a:ext cx="2364358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将向量按 RMS 归一化。相比 LayerNorm 省略了减均值步骤，计算更快，效果相当。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83226" y="3794224"/>
            <a:ext cx="236435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用于：每层输入前的数值稳定化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4926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28600"/>
            <a:ext cx="31089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模型骨架：参数初始化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06701" y="393799"/>
            <a:ext cx="507950" cy="231577"/>
          </a:xfrm>
          <a:prstGeom prst="roundRect">
            <a:avLst>
              <a:gd name="adj" fmla="val 16452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33651" y="419100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06301" y="1012627"/>
            <a:ext cx="45172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个超参数决定网络的"身材"：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6301" y="1349127"/>
            <a:ext cx="4428679" cy="1786830"/>
          </a:xfrm>
          <a:prstGeom prst="roundRect">
            <a:avLst>
              <a:gd name="adj" fmla="val 4265"/>
            </a:avLst>
          </a:prstGeom>
          <a:solidFill>
            <a:srgbClr val="1A1A2E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68226" y="1747540"/>
            <a:ext cx="4104829" cy="0"/>
          </a:xfrm>
          <a:prstGeom prst="line">
            <a:avLst/>
          </a:prstGeom>
          <a:noFill/>
          <a:ln w="9525">
            <a:solidFill>
              <a:srgbClr val="1E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8226" y="1511052"/>
            <a:ext cx="9428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n_layer（深度）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84834" y="1511052"/>
            <a:ext cx="777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53123" y="1511052"/>
            <a:ext cx="11423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 1 层 Transformer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8226" y="2052191"/>
            <a:ext cx="4104829" cy="0"/>
          </a:xfrm>
          <a:prstGeom prst="line">
            <a:avLst/>
          </a:prstGeom>
          <a:noFill/>
          <a:ln w="9525">
            <a:solidFill>
              <a:srgbClr val="1E1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8226" y="1815703"/>
            <a:ext cx="9861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n_embd（宽度）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18011" y="1815703"/>
            <a:ext cx="1554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53408" y="1815703"/>
            <a:ext cx="12440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 token 用 16 维向量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8226" y="2356842"/>
            <a:ext cx="4104829" cy="0"/>
          </a:xfrm>
          <a:prstGeom prst="line">
            <a:avLst/>
          </a:prstGeom>
          <a:noFill/>
          <a:ln w="9525">
            <a:solidFill>
              <a:srgbClr val="1E1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226" y="2120354"/>
            <a:ext cx="112274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block_size（窗口）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6582" y="2120354"/>
            <a:ext cx="1554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96605" y="2120354"/>
            <a:ext cx="8939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最多看 16 个字符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8226" y="2661493"/>
            <a:ext cx="4104829" cy="0"/>
          </a:xfrm>
          <a:prstGeom prst="line">
            <a:avLst/>
          </a:prstGeom>
          <a:noFill/>
          <a:ln w="9525">
            <a:solidFill>
              <a:srgbClr val="1E1E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8226" y="2425005"/>
            <a:ext cx="95029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n_head（头数）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0623" y="2425005"/>
            <a:ext cx="777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77555" y="2425005"/>
            <a:ext cx="9134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个注意力头并行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8226" y="2729657"/>
            <a:ext cx="10869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head_dim（每头）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72209" y="2729657"/>
            <a:ext cx="777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86783" y="2729657"/>
            <a:ext cx="90399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4 = 每头 4 维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6301" y="3262908"/>
            <a:ext cx="4428679" cy="591741"/>
          </a:xfrm>
          <a:prstGeom prst="rect">
            <a:avLst/>
          </a:prstGeom>
          <a:solidFill>
            <a:srgbClr val="1616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25351" y="3262908"/>
            <a:ext cx="0" cy="591741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6801" y="3389858"/>
            <a:ext cx="4167494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为什么用小随机数初始化？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全 0 会导致所有神经元行为完全一样，永远学不出差异。std=0.08 刚好让初始输出不爆炸也不消失。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114330" y="1012627"/>
            <a:ext cx="3623370" cy="2539454"/>
          </a:xfrm>
          <a:prstGeom prst="roundRect">
            <a:avLst>
              <a:gd name="adj" fmla="val 3001"/>
            </a:avLst>
          </a:prstGeom>
          <a:solidFill>
            <a:srgbClr val="161630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76255" y="1174552"/>
            <a:ext cx="33655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参数矩阵清单（state_dict）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76255" y="1476077"/>
            <a:ext cx="929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wte（字符嵌入）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779693" y="1476077"/>
            <a:ext cx="8120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27x16 = 432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76255" y="1688753"/>
            <a:ext cx="9636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wpe（位置嵌入）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779693" y="1688753"/>
            <a:ext cx="8120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16x16 = 256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276255" y="1901428"/>
            <a:ext cx="9638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lm_head（输出）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779693" y="1901428"/>
            <a:ext cx="8120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27x16 = 432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76255" y="2114104"/>
            <a:ext cx="10117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attn_wq（Query）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779693" y="2114104"/>
            <a:ext cx="8120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16x16 = 256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76255" y="2326779"/>
            <a:ext cx="8818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attn_wk（Key）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779693" y="2326779"/>
            <a:ext cx="8120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16x16 = 256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276255" y="2539454"/>
            <a:ext cx="9753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attn_wv（Value）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779693" y="2539454"/>
            <a:ext cx="8120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16x16 = 256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276255" y="2752130"/>
            <a:ext cx="11688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attn_wo（输出投影）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779693" y="2752130"/>
            <a:ext cx="8120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16x16 = 256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276255" y="2964805"/>
            <a:ext cx="9226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mlp_fc1（升维）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707362" y="2964805"/>
            <a:ext cx="8857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64x16 = 1024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276255" y="3177480"/>
            <a:ext cx="9226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mlp_fc2（降维）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707362" y="3177480"/>
            <a:ext cx="8857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16x64 = 1024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114330" y="3679031"/>
            <a:ext cx="3623370" cy="955625"/>
          </a:xfrm>
          <a:prstGeom prst="roundRect">
            <a:avLst>
              <a:gd name="adj" fmla="val 7974"/>
            </a:avLst>
          </a:prstGeom>
          <a:solidFill>
            <a:srgbClr val="1A1A2E"/>
          </a:solidFill>
          <a:ln w="9525">
            <a:solidFill>
              <a:srgbClr val="16C7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243259" y="3840956"/>
            <a:ext cx="33655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4,192</a:t>
            </a:r>
            <a:endParaRPr lang="en-US" sz="2800" dirty="0"/>
          </a:p>
        </p:txBody>
      </p:sp>
      <p:sp>
        <p:nvSpPr>
          <p:cNvPr id="52" name="Text 50"/>
          <p:cNvSpPr/>
          <p:nvPr/>
        </p:nvSpPr>
        <p:spPr>
          <a:xfrm>
            <a:off x="5243259" y="4291757"/>
            <a:ext cx="33655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个可学习参数（每个都是 Value 节点）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4926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28600"/>
            <a:ext cx="261164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 前向：数据流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119140" y="393799"/>
            <a:ext cx="507950" cy="231577"/>
          </a:xfrm>
          <a:prstGeom prst="roundRect">
            <a:avLst>
              <a:gd name="adj" fmla="val 16452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46090" y="419100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5550" y="1012627"/>
            <a:ext cx="860155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简化 GPT-2 架构：token + position embedding, 1 层 Transformer block (MHA + MLP), 残差连接, RMSNorm (替代 LayerNorm), ReLU (替代 GeLU), 无 bias。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5550" y="1584127"/>
            <a:ext cx="1184970" cy="663178"/>
          </a:xfrm>
          <a:prstGeom prst="roundRect">
            <a:avLst>
              <a:gd name="adj" fmla="val 11490"/>
            </a:avLst>
          </a:prstGeom>
          <a:solidFill>
            <a:srgbClr val="1A1A2E"/>
          </a:solidFill>
          <a:ln w="19050">
            <a:solidFill>
              <a:srgbClr val="16C7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6662" y="1725216"/>
            <a:ext cx="9627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662" y="1883866"/>
            <a:ext cx="96274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wte + wpe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66662" y="2001292"/>
            <a:ext cx="96274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R^16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591270" y="1810941"/>
            <a:ext cx="1663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05136" y="1584127"/>
            <a:ext cx="1184970" cy="663178"/>
          </a:xfrm>
          <a:prstGeom prst="roundRect">
            <a:avLst>
              <a:gd name="adj" fmla="val 11490"/>
            </a:avLst>
          </a:prstGeom>
          <a:solidFill>
            <a:srgbClr val="1A1A2E"/>
          </a:solidFill>
          <a:ln w="19050">
            <a:solidFill>
              <a:srgbClr val="F0C0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916248" y="1777603"/>
            <a:ext cx="9627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RMSNorm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16248" y="1948904"/>
            <a:ext cx="96274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R^16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40856" y="1810941"/>
            <a:ext cx="1663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54722" y="1584127"/>
            <a:ext cx="1184970" cy="663178"/>
          </a:xfrm>
          <a:prstGeom prst="roundRect">
            <a:avLst>
              <a:gd name="adj" fmla="val 11490"/>
            </a:avLst>
          </a:prstGeom>
          <a:solidFill>
            <a:srgbClr val="1A1A2E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65834" y="1704677"/>
            <a:ext cx="9627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65834" y="1863328"/>
            <a:ext cx="9627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65834" y="2021979"/>
            <a:ext cx="96274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heads x 4d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90442" y="1810941"/>
            <a:ext cx="1663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04308" y="1584127"/>
            <a:ext cx="1184970" cy="663178"/>
          </a:xfrm>
          <a:prstGeom prst="roundRect">
            <a:avLst>
              <a:gd name="adj" fmla="val 11490"/>
            </a:avLst>
          </a:prstGeom>
          <a:solidFill>
            <a:srgbClr val="1A1A2E"/>
          </a:solidFill>
          <a:ln w="19050">
            <a:solidFill>
              <a:srgbClr val="F0C0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5420" y="1777603"/>
            <a:ext cx="9627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RMSNorm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15420" y="1948904"/>
            <a:ext cx="96274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R^16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0028" y="1810941"/>
            <a:ext cx="1663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53894" y="1584127"/>
            <a:ext cx="1184970" cy="663178"/>
          </a:xfrm>
          <a:prstGeom prst="roundRect">
            <a:avLst>
              <a:gd name="adj" fmla="val 11490"/>
            </a:avLst>
          </a:prstGeom>
          <a:solidFill>
            <a:srgbClr val="1A1A2E"/>
          </a:solidFill>
          <a:ln w="19050">
            <a:solidFill>
              <a:srgbClr val="6C5C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65006" y="1731615"/>
            <a:ext cx="9627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65006" y="1890266"/>
            <a:ext cx="96274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16-&gt;64-&gt;16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265006" y="1995041"/>
            <a:ext cx="96274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ReLU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389614" y="1810941"/>
            <a:ext cx="1663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603480" y="1584127"/>
            <a:ext cx="1184970" cy="663178"/>
          </a:xfrm>
          <a:prstGeom prst="roundRect">
            <a:avLst>
              <a:gd name="adj" fmla="val 11490"/>
            </a:avLst>
          </a:prstGeom>
          <a:solidFill>
            <a:srgbClr val="1A1A2E"/>
          </a:solidFill>
          <a:ln w="19050">
            <a:solidFill>
              <a:srgbClr val="16C7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714592" y="1784003"/>
            <a:ext cx="9627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lm_head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14592" y="1942654"/>
            <a:ext cx="96274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R^16-&gt;R^27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55550" y="2425005"/>
            <a:ext cx="1993850" cy="2540794"/>
          </a:xfrm>
          <a:prstGeom prst="roundRect">
            <a:avLst>
              <a:gd name="adj" fmla="val 3822"/>
            </a:avLst>
          </a:prstGeom>
          <a:solidFill>
            <a:srgbClr val="161630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2026" y="2561481"/>
            <a:ext cx="17553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2026" y="2780556"/>
            <a:ext cx="1755318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wte[tok] + wpe[pos]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2026" y="2988766"/>
            <a:ext cx="175531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embedding (27x16) + Position embedding (16x16)。两个查表向量逐元素相加，编码"什么token在什么位置"。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501801" y="2425005"/>
            <a:ext cx="1993999" cy="2540794"/>
          </a:xfrm>
          <a:prstGeom prst="roundRect">
            <a:avLst>
              <a:gd name="adj" fmla="val 3821"/>
            </a:avLst>
          </a:prstGeom>
          <a:solidFill>
            <a:srgbClr val="161630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638276" y="2561481"/>
            <a:ext cx="17554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38276" y="2780556"/>
            <a:ext cx="175546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唯一的 token 间交互。Q,K,V 各经线性变换后按 head 切分，计算 scaled dot-product attention。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638276" y="3298627"/>
            <a:ext cx="1755469" cy="340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attn = softmax(QK^T/sqrt(d))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638276" y="3676948"/>
            <a:ext cx="1755469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= attn @ V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48200" y="2425005"/>
            <a:ext cx="1993850" cy="2540794"/>
          </a:xfrm>
          <a:prstGeom prst="roundRect">
            <a:avLst>
              <a:gd name="adj" fmla="val 3822"/>
            </a:avLst>
          </a:prstGeom>
          <a:solidFill>
            <a:srgbClr val="161630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784675" y="2561481"/>
            <a:ext cx="17553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(FFN)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84675" y="2780556"/>
            <a:ext cx="17553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两层线性变换 + ReLU：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84675" y="2978646"/>
            <a:ext cx="1755318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relu(x @ W1^T)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84675" y="3186857"/>
            <a:ext cx="1755318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= h @ W2^T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84675" y="3395067"/>
            <a:ext cx="175531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先升维 4x (16-&gt;64) 增加表达能力，再降回 (64-&gt;16)。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794450" y="2425005"/>
            <a:ext cx="1993999" cy="2540794"/>
          </a:xfrm>
          <a:prstGeom prst="roundRect">
            <a:avLst>
              <a:gd name="adj" fmla="val 3821"/>
            </a:avLst>
          </a:prstGeom>
          <a:solidFill>
            <a:srgbClr val="161630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930926" y="2561481"/>
            <a:ext cx="17554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残差连接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30926" y="2818656"/>
            <a:ext cx="1755469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f(x) + x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930926" y="3026866"/>
            <a:ext cx="175546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梯度可以跳过 f(x) 直接回传（dL/dx 中包含一个恒等项），缓解深层网络的梯度消失。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30926" y="3544937"/>
            <a:ext cx="17554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网络学习的是残差 f(x)，而非完整映射。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28600"/>
            <a:ext cx="52239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Scaled Dot-Product Attention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80174" y="327124"/>
            <a:ext cx="507950" cy="231577"/>
          </a:xfrm>
          <a:prstGeom prst="roundRect">
            <a:avLst>
              <a:gd name="adj" fmla="val 16452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07125" y="352425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深入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06301" y="936427"/>
            <a:ext cx="3108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1101" y="936427"/>
            <a:ext cx="42063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线性投影生成 Q, K, 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1101" y="1161752"/>
            <a:ext cx="4206356" cy="169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x @ Wq, K = x @ Wk, V = x @ Wv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1101" y="1331268"/>
            <a:ext cx="4206356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Q(query): 当前位置的查询向量; K(key): 用于被匹配的键向量; V(value): 实际传递的信息内容。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06301" y="1770608"/>
            <a:ext cx="3108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1101" y="1770608"/>
            <a:ext cx="42063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计算注意力分数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1101" y="1995934"/>
            <a:ext cx="4206356" cy="169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score(t) = Q . K_t / sqrt(d_k)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11101" y="2165449"/>
            <a:ext cx="4206356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与每个历史位置的 K 做点积。除以 sqrt(d_k) 防止点积随维度增大，导致 softmax 梯度过小。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6301" y="2604790"/>
            <a:ext cx="3108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1101" y="2604790"/>
            <a:ext cx="42063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 归一化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1101" y="2830116"/>
            <a:ext cx="4206356" cy="169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= softmax(scores)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11101" y="2999631"/>
            <a:ext cx="4206356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将分数转为概率权重分布 (sum=1)。因果模型只看当前及之前位置（此处通过仅存历史 KV 隐式实现）。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6301" y="3438971"/>
            <a:ext cx="3108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1101" y="3438971"/>
            <a:ext cx="42063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加权聚合 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1101" y="3664297"/>
            <a:ext cx="4206356" cy="169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out_j = sum_t(alpha_t * V_t[j])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11101" y="3833812"/>
            <a:ext cx="4206356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输出是所有历史 V 的加权和，权重由 Q-K 相似度决定。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14330" y="936427"/>
            <a:ext cx="3623370" cy="2222302"/>
          </a:xfrm>
          <a:prstGeom prst="roundRect">
            <a:avLst>
              <a:gd name="adj" fmla="val 3429"/>
            </a:avLst>
          </a:prstGeom>
          <a:solidFill>
            <a:srgbClr val="16163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76255" y="1098352"/>
            <a:ext cx="33655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Multi-Head：并行子空间注意力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76255" y="1399877"/>
            <a:ext cx="336551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 d_model=16 切分为 n_head=4 组，每组 d_k=4：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76255" y="1653778"/>
            <a:ext cx="767655" cy="421481"/>
          </a:xfrm>
          <a:prstGeom prst="roundRect">
            <a:avLst>
              <a:gd name="adj" fmla="val 12053"/>
            </a:avLst>
          </a:prstGeom>
          <a:solidFill>
            <a:srgbClr val="2A2A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72109" y="1704529"/>
            <a:ext cx="5759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h0 [0:4]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0110" y="1653778"/>
            <a:ext cx="767804" cy="421481"/>
          </a:xfrm>
          <a:prstGeom prst="roundRect">
            <a:avLst>
              <a:gd name="adj" fmla="val 12053"/>
            </a:avLst>
          </a:prstGeom>
          <a:solidFill>
            <a:srgbClr val="2A2A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15963" y="1704529"/>
            <a:ext cx="5760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[4:8]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64114" y="1653778"/>
            <a:ext cx="767655" cy="421481"/>
          </a:xfrm>
          <a:prstGeom prst="roundRect">
            <a:avLst>
              <a:gd name="adj" fmla="val 12053"/>
            </a:avLst>
          </a:prstGeom>
          <a:solidFill>
            <a:srgbClr val="2A2A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059969" y="1704529"/>
            <a:ext cx="57594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 [8:12]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07970" y="1653778"/>
            <a:ext cx="767804" cy="421481"/>
          </a:xfrm>
          <a:prstGeom prst="roundRect">
            <a:avLst>
              <a:gd name="adj" fmla="val 12053"/>
            </a:avLst>
          </a:prstGeom>
          <a:solidFill>
            <a:srgbClr val="2A2A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903823" y="1704529"/>
            <a:ext cx="57609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 [12:16]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76255" y="2151459"/>
            <a:ext cx="336551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 head 在独立的子空间中计算注意力，学习不同的关注模式。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76255" y="2557611"/>
            <a:ext cx="336551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concat(h0..h3) @ Wo -&gt; R^16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76255" y="2786063"/>
            <a:ext cx="3365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输出投影 Wo 将拼接结果映射回 d_model。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14330" y="3285679"/>
            <a:ext cx="3623370" cy="1598265"/>
          </a:xfrm>
          <a:prstGeom prst="roundRect">
            <a:avLst>
              <a:gd name="adj" fmla="val 4768"/>
            </a:avLst>
          </a:prstGeom>
          <a:solidFill>
            <a:srgbClr val="1A1A2E"/>
          </a:solidFill>
          <a:ln w="9525">
            <a:solidFill>
              <a:srgbClr val="F0C0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276255" y="3447604"/>
            <a:ext cx="33655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Cache（推理优化）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76255" y="3723829"/>
            <a:ext cx="3365510" cy="169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keys[li].append(k)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276255" y="3931444"/>
            <a:ext cx="3365510" cy="169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values[li].append(v)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76255" y="4139059"/>
            <a:ext cx="3365510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每个位置的 K,V 只计算一次并缓存。新 token 只需计算自己的 Q，与所有历史 K 做点积。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276255" y="4514999"/>
            <a:ext cx="3365510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推理复杂度从 O(T^2) 降为 O(T)。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4926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28600"/>
            <a:ext cx="33577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训练循环：前向 + 损失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50630" y="393799"/>
            <a:ext cx="719733" cy="231577"/>
          </a:xfrm>
          <a:prstGeom prst="roundRect">
            <a:avLst>
              <a:gd name="adj" fmla="val 16452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77580" y="419100"/>
            <a:ext cx="4751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 1/2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06301" y="1012627"/>
            <a:ext cx="4106469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 step：取一个名字，逐字符预测"下一个是什么"，然后算"猜得有多差"。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6301" y="1612106"/>
            <a:ext cx="4025950" cy="2608362"/>
          </a:xfrm>
          <a:prstGeom prst="roundRect">
            <a:avLst>
              <a:gd name="adj" fmla="val 2921"/>
            </a:avLst>
          </a:prstGeom>
          <a:solidFill>
            <a:srgbClr val="1A1A2E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68226" y="1774031"/>
            <a:ext cx="3776142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55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取名字，前后加 BOS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8226" y="2002482"/>
            <a:ext cx="3776142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 = docs[step % len(docs)]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8226" y="2230934"/>
            <a:ext cx="3776142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 = [BOS] + tokenize(doc) + [BOS]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8226" y="2459385"/>
            <a:ext cx="3776142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55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逐字符预测下一个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8226" y="2687836"/>
            <a:ext cx="3776142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 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range(n):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8226" y="2916287"/>
            <a:ext cx="3776142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 = gpt(tokens[pos], pos)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8226" y="3144738"/>
            <a:ext cx="3776142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probs = softmax(logits)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8226" y="3373189"/>
            <a:ext cx="3776142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loss_t = -probs[target].log()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8226" y="3601641"/>
            <a:ext cx="3776142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55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平均损失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8226" y="3830092"/>
            <a:ext cx="3776142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(1/n) * sum(losses)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11601" y="1012627"/>
            <a:ext cx="4026098" cy="1329928"/>
          </a:xfrm>
          <a:prstGeom prst="roundRect">
            <a:avLst>
              <a:gd name="adj" fmla="val 5730"/>
            </a:avLst>
          </a:prstGeom>
          <a:solidFill>
            <a:srgbClr val="1A1A2E"/>
          </a:solidFill>
          <a:ln w="9525">
            <a:solidFill>
              <a:srgbClr val="16C7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73526" y="1174552"/>
            <a:ext cx="37762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示例："emma" 的训练过程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73526" y="1476077"/>
            <a:ext cx="3776293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输入: BOS 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 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 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 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73526" y="1704529"/>
            <a:ext cx="3776293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目标: e 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 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 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73526" y="1971080"/>
            <a:ext cx="37762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每个位置：看到前面的字，猜下一个字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11601" y="2469505"/>
            <a:ext cx="4026098" cy="1881634"/>
          </a:xfrm>
          <a:prstGeom prst="roundRect">
            <a:avLst>
              <a:gd name="adj" fmla="val 4050"/>
            </a:avLst>
          </a:prstGeom>
          <a:solidFill>
            <a:srgbClr val="16163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98827" y="2656731"/>
            <a:ext cx="37246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损失函数：-log P(正确答案)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8827" y="2967782"/>
            <a:ext cx="3724680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模型猜得越准，loss 越小：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1969" y="3259634"/>
            <a:ext cx="699516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P=0.9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1969" y="3449985"/>
            <a:ext cx="699516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loss=0.10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1969" y="3640336"/>
            <a:ext cx="699516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猜得很准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74892" y="3259634"/>
            <a:ext cx="699516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P=0.5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74892" y="3449985"/>
            <a:ext cx="699516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loss=0.69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74892" y="3640336"/>
            <a:ext cx="699516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一般般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57815" y="3259634"/>
            <a:ext cx="699516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P=0.01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57815" y="3449985"/>
            <a:ext cx="699516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loss=4.60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57815" y="3640336"/>
            <a:ext cx="699516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猜得很差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8827" y="3932188"/>
            <a:ext cx="37246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950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训练目标：让 loss 尽可能小 = 让模型尽可能猜准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4926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28600"/>
            <a:ext cx="186552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Adam 优化器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387650" y="393799"/>
            <a:ext cx="719733" cy="231577"/>
          </a:xfrm>
          <a:prstGeom prst="roundRect">
            <a:avLst>
              <a:gd name="adj" fmla="val 16452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14600" y="419100"/>
            <a:ext cx="4751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 2/2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06301" y="936427"/>
            <a:ext cx="45456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= Adaptive Moment Estimation。结合一阶矩（动量）和二阶矩（自适应学习率）：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6301" y="1482477"/>
            <a:ext cx="4456509" cy="2515195"/>
          </a:xfrm>
          <a:prstGeom prst="roundRect">
            <a:avLst>
              <a:gd name="adj" fmla="val 3030"/>
            </a:avLst>
          </a:prstGeom>
          <a:solidFill>
            <a:srgbClr val="1A1A2E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68226" y="2158157"/>
            <a:ext cx="4132659" cy="0"/>
          </a:xfrm>
          <a:prstGeom prst="line">
            <a:avLst/>
          </a:prstGeom>
          <a:noFill/>
          <a:ln w="9525">
            <a:solidFill>
              <a:srgbClr val="1E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8226" y="1644402"/>
            <a:ext cx="22668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b1*m + (1-b1)*g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892177" y="1644402"/>
            <a:ext cx="1844882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一阶矩估计</a:t>
            </a:r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（梯度的指数加权移动平均，即动量）。平滑梯度噪声，保持更新方向的一致性。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8226" y="2740075"/>
            <a:ext cx="4132659" cy="0"/>
          </a:xfrm>
          <a:prstGeom prst="line">
            <a:avLst/>
          </a:prstGeom>
          <a:noFill/>
          <a:ln w="9525">
            <a:solidFill>
              <a:srgbClr val="1E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8226" y="2226320"/>
            <a:ext cx="22668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b2*v + (1-b2)*g^2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92177" y="2226320"/>
            <a:ext cx="1844882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二阶矩估计</a:t>
            </a:r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（梯度平方的指数加权移动平均）。衡量各参数梯度的方差/波动。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8226" y="3321993"/>
            <a:ext cx="4132659" cy="0"/>
          </a:xfrm>
          <a:prstGeom prst="line">
            <a:avLst/>
          </a:prstGeom>
          <a:noFill/>
          <a:ln w="9525">
            <a:solidFill>
              <a:srgbClr val="1E1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226" y="2808238"/>
            <a:ext cx="22668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m_hat = m / (1-b1^t)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892177" y="2808238"/>
            <a:ext cx="1844882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偏差修正</a:t>
            </a:r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。初始 m=v=0 导致估计偏向零，除以 (1-b^t) 消除初始化偏差。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8226" y="3390156"/>
            <a:ext cx="22668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-= lr*m_hat/sqrt(v_hat+e)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92177" y="3390156"/>
            <a:ext cx="1844882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参数更新</a:t>
            </a:r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。除以 sqrt(v_hat) 实现逐参数自适应学习率：梯度方差大的参数步长小。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6301" y="4124623"/>
            <a:ext cx="4456509" cy="637877"/>
          </a:xfrm>
          <a:prstGeom prst="roundRect">
            <a:avLst>
              <a:gd name="adj" fmla="val 11946"/>
            </a:avLst>
          </a:prstGeom>
          <a:solidFill>
            <a:srgbClr val="161630"/>
          </a:solidFill>
          <a:ln w="9525">
            <a:solidFill>
              <a:srgbClr val="16C7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42776" y="4261098"/>
            <a:ext cx="4267230" cy="364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学习率调度：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lr_t = 0.01 * (1 - t/T)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，线性衰减到 0。后期小学习率防止在最优点附近震荡。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91410" y="936427"/>
            <a:ext cx="3646289" cy="1699617"/>
          </a:xfrm>
          <a:prstGeom prst="rect">
            <a:avLst/>
          </a:prstGeom>
          <a:solidFill>
            <a:srgbClr val="1616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115223" y="936427"/>
            <a:ext cx="0" cy="1699617"/>
          </a:xfrm>
          <a:prstGeom prst="line">
            <a:avLst/>
          </a:prstGeom>
          <a:noFill/>
          <a:ln w="47625">
            <a:solidFill>
              <a:srgbClr val="F0C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65986" y="1063377"/>
            <a:ext cx="34116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超参数设置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65986" y="1320552"/>
            <a:ext cx="34116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CC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    = 0.01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65986" y="1518642"/>
            <a:ext cx="34116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CC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beta1 = 0.85 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动量系数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65986" y="1716732"/>
            <a:ext cx="34116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CC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beta2 = 0.99 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方差系数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65986" y="1914823"/>
            <a:ext cx="34116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CC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 = 1e-8 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数值稳定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65986" y="2151013"/>
            <a:ext cx="341165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标准 Adam 默认 b1=0.9, b2=0.999。这里 b1=0.85 动量稍弱，b2=0.99 方差记忆稍短。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91410" y="2762994"/>
            <a:ext cx="3646289" cy="1783259"/>
          </a:xfrm>
          <a:prstGeom prst="roundRect">
            <a:avLst>
              <a:gd name="adj" fmla="val 4273"/>
            </a:avLst>
          </a:prstGeom>
          <a:solidFill>
            <a:srgbClr val="1A1A2E"/>
          </a:solidFill>
          <a:ln w="9525">
            <a:solidFill>
              <a:srgbClr val="6C5C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53335" y="2924919"/>
            <a:ext cx="33888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 SGD 对比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3335" y="3226445"/>
            <a:ext cx="338888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SGD:</a:t>
            </a:r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 -= lr * 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53335" y="3413075"/>
            <a:ext cx="338888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Adam:</a:t>
            </a:r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 -= lr * m_hat / sqrt(v_hat)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53335" y="3637806"/>
            <a:ext cx="338888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的优势：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53335" y="3824436"/>
            <a:ext cx="338888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动量平滑了梯度噪声（batch_size=1 时尤为关键）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53335" y="4011067"/>
            <a:ext cx="338888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逐参数自适应步长，无需手动调节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53335" y="4197697"/>
            <a:ext cx="338888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对学习率选择不敏感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4926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28600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推理：自回归采样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97101" y="393799"/>
            <a:ext cx="507950" cy="231577"/>
          </a:xfrm>
          <a:prstGeom prst="roundRect">
            <a:avLst>
              <a:gd name="adj" fmla="val 16452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24051" y="419100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06301" y="961876"/>
            <a:ext cx="410646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 token 生成：每步从 P(x_t | x_1..x_{t-1}) 中采样，将结果作为下一步输入。无反向传播。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6301" y="1507927"/>
            <a:ext cx="4025950" cy="2037159"/>
          </a:xfrm>
          <a:prstGeom prst="roundRect">
            <a:avLst>
              <a:gd name="adj" fmla="val 3741"/>
            </a:avLst>
          </a:prstGeom>
          <a:solidFill>
            <a:srgbClr val="161630"/>
          </a:solidFill>
          <a:ln w="9525">
            <a:solidFill>
              <a:srgbClr val="16C7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3527" y="1695152"/>
            <a:ext cx="3724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Autoregressive Decoding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3527" y="1949053"/>
            <a:ext cx="372452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0C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t=0: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input=BOS -&gt; P(x|BOS) -&gt; sample "e"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3527" y="2177504"/>
            <a:ext cx="372452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0C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t=1: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input="e" -&gt; P(x|BOS,e) -&gt; sample "m"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3527" y="2405955"/>
            <a:ext cx="372452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0C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t=2: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input="m" -&gt; P(x|...,m) -&gt; sample "m"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3527" y="2634407"/>
            <a:ext cx="372452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0C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t=3: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input="m" -&gt; P(x|...,m) -&gt; sample "a"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3527" y="2862858"/>
            <a:ext cx="372452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0C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t=4:</a:t>
            </a:r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input="a" -&gt; P(x|...,a) -&gt; sample BOS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3527" y="3129409"/>
            <a:ext cx="372452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 = EOS，终止。输出："emma"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6301" y="3672036"/>
            <a:ext cx="410646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终止条件：生成 BOS（序列结束）或达到 block_size=16（最大长度截断）。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11601" y="961876"/>
            <a:ext cx="4026098" cy="2019746"/>
          </a:xfrm>
          <a:prstGeom prst="roundRect">
            <a:avLst>
              <a:gd name="adj" fmla="val 3773"/>
            </a:avLst>
          </a:prstGeom>
          <a:solidFill>
            <a:srgbClr val="1A1A2E"/>
          </a:solidFill>
          <a:ln w="9525">
            <a:solidFill>
              <a:srgbClr val="F0C0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73526" y="1123801"/>
            <a:ext cx="37762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Scaling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73526" y="1377702"/>
            <a:ext cx="377629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P(i) = softmax(z_i / 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73526" y="1631603"/>
            <a:ext cx="3776293" cy="18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-&gt; 0</a:t>
            </a:r>
            <a:pPr algn="l" indent="0" marL="0">
              <a:lnSpc>
                <a:spcPts val="140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分布趋向 argmax（贪心）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73526" y="1869579"/>
            <a:ext cx="3776293" cy="18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0.5</a:t>
            </a:r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适度锐化（默认值）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73526" y="2107555"/>
            <a:ext cx="3776293" cy="18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1.0</a:t>
            </a:r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原始分布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73526" y="2345531"/>
            <a:ext cx="3776293" cy="18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&gt; 1.0</a:t>
            </a:r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分布趋向均匀（随机）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73526" y="2608957"/>
            <a:ext cx="37762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数学上：T 缩放 logits 的 range。T 小 -&gt; softmax 更尖锐 -&gt; 熵更低。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11601" y="3108573"/>
            <a:ext cx="4026098" cy="1837432"/>
          </a:xfrm>
          <a:prstGeom prst="roundRect">
            <a:avLst>
              <a:gd name="adj" fmla="val 4147"/>
            </a:avLst>
          </a:prstGeom>
          <a:solidFill>
            <a:srgbClr val="161630"/>
          </a:solidFill>
          <a:ln w="9525">
            <a:solidFill>
              <a:srgbClr val="16C7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48076" y="3245048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microgpt.py (T=0.5)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8076" y="3464123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55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kamon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8076" y="3632299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55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8076" y="3800475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55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</a:t>
            </a:r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karai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8076" y="3968651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55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</a:t>
            </a:r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deliah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8076" y="4136827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55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</a:t>
            </a:r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jaylen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8076" y="4305002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55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</a:t>
            </a:r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mali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8076" y="4473178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55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</a:t>
            </a:r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briya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8076" y="4641354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55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8:</a:t>
            </a:r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zenna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28600"/>
            <a:ext cx="849802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diff microgpt ChatGPT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55550" y="911126"/>
            <a:ext cx="8432899" cy="3323332"/>
          </a:xfrm>
          <a:prstGeom prst="roundRect">
            <a:avLst>
              <a:gd name="adj" fmla="val 3057"/>
            </a:avLst>
          </a:prstGeom>
          <a:solidFill>
            <a:srgbClr val="1A1A2E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5075" y="920651"/>
            <a:ext cx="8413849" cy="368201"/>
          </a:xfrm>
          <a:prstGeom prst="rect">
            <a:avLst/>
          </a:prstGeom>
          <a:solidFill>
            <a:srgbClr val="1616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65075" y="1284089"/>
            <a:ext cx="8413849" cy="0"/>
          </a:xfrm>
          <a:prstGeom prst="line">
            <a:avLst/>
          </a:prstGeom>
          <a:noFill/>
          <a:ln w="9525">
            <a:solidFill>
              <a:srgbClr val="2A2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7475" y="1009501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92226" y="1028551"/>
            <a:ext cx="5540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microgpt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55927" y="1028551"/>
            <a:ext cx="5540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075" y="1652290"/>
            <a:ext cx="8413849" cy="0"/>
          </a:xfrm>
          <a:prstGeom prst="line">
            <a:avLst/>
          </a:prstGeom>
          <a:noFill/>
          <a:ln w="9525">
            <a:solidFill>
              <a:srgbClr val="2A2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475" y="1377702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92226" y="1377702"/>
            <a:ext cx="5700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32K 名字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55927" y="1377702"/>
            <a:ext cx="20205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万亿 token（网页、书籍、代码）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075" y="2020491"/>
            <a:ext cx="8413849" cy="0"/>
          </a:xfrm>
          <a:prstGeom prst="line">
            <a:avLst/>
          </a:prstGeom>
          <a:noFill/>
          <a:ln w="9525">
            <a:solidFill>
              <a:srgbClr val="2A2A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475" y="1745903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词表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92226" y="1745903"/>
            <a:ext cx="4923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字符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55927" y="1745903"/>
            <a:ext cx="10362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~100K BPE 子词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075" y="2388691"/>
            <a:ext cx="8413849" cy="0"/>
          </a:xfrm>
          <a:prstGeom prst="line">
            <a:avLst/>
          </a:prstGeom>
          <a:noFill/>
          <a:ln w="9525">
            <a:solidFill>
              <a:srgbClr val="2A2A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7475" y="2114104"/>
            <a:ext cx="3886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参数量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92226" y="2133154"/>
            <a:ext cx="3886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4,192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55927" y="2133154"/>
            <a:ext cx="12435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100,000,000,000+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075" y="2756892"/>
            <a:ext cx="8413849" cy="0"/>
          </a:xfrm>
          <a:prstGeom prst="line">
            <a:avLst/>
          </a:prstGeom>
          <a:noFill/>
          <a:ln w="9525">
            <a:solidFill>
              <a:srgbClr val="2A2A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7475" y="2482304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92226" y="2501354"/>
            <a:ext cx="777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55927" y="2501354"/>
            <a:ext cx="3108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100+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075" y="3125093"/>
            <a:ext cx="8413849" cy="0"/>
          </a:xfrm>
          <a:prstGeom prst="line">
            <a:avLst/>
          </a:prstGeom>
          <a:noFill/>
          <a:ln w="9525">
            <a:solidFill>
              <a:srgbClr val="2A2A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7475" y="2850505"/>
            <a:ext cx="518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嵌入维度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92226" y="2869555"/>
            <a:ext cx="155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55927" y="2869555"/>
            <a:ext cx="5440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10,000+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075" y="3493294"/>
            <a:ext cx="8413849" cy="0"/>
          </a:xfrm>
          <a:prstGeom prst="line">
            <a:avLst/>
          </a:prstGeom>
          <a:noFill/>
          <a:ln w="9525">
            <a:solidFill>
              <a:srgbClr val="2A2A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7475" y="3218706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092226" y="3218706"/>
            <a:ext cx="116570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标量，CPU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55927" y="3218706"/>
            <a:ext cx="11399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GPU/TPU 张量并行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075" y="3861495"/>
            <a:ext cx="8413849" cy="0"/>
          </a:xfrm>
          <a:prstGeom prst="line">
            <a:avLst/>
          </a:prstGeom>
          <a:noFill/>
          <a:ln w="9525">
            <a:solidFill>
              <a:srgbClr val="2A2A4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7475" y="3586907"/>
            <a:ext cx="518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训练时间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092226" y="3586907"/>
            <a:ext cx="4923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 分钟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55927" y="3586907"/>
            <a:ext cx="7770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数周集群训练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7475" y="3955107"/>
            <a:ext cx="3886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后训练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092226" y="3955107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无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55927" y="3974157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SFT + RLHF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1221" y="4386858"/>
            <a:ext cx="8601557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i="1" dirty="0">
                <a:solidFill>
                  <a:srgbClr val="16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"核心算法完全一致，只是规模天壤之别。"</a:t>
            </a:r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都是同一个 next-token prediction 循环。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7513" y="1008162"/>
            <a:ext cx="69289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6000" dirty="0">
                <a:solidFill>
                  <a:srgbClr val="16C7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107513" y="1668512"/>
            <a:ext cx="6928973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spcBef>
                <a:spcPts val="1600"/>
              </a:spcBef>
              <a:spcAft>
                <a:spcPts val="2000"/>
              </a:spcAft>
              <a:buNone/>
            </a:pPr>
            <a:r>
              <a:rPr lang="en-US" sz="1800" i="1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file is the complete algorithm. Everything else is just efficiency.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91000" y="2288084"/>
            <a:ext cx="762000" cy="25301"/>
          </a:xfrm>
          <a:prstGeom prst="roundRect">
            <a:avLst>
              <a:gd name="adj" fmla="val 50196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07513" y="2516535"/>
            <a:ext cx="69289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Andrej Karpathy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2941886"/>
            <a:ext cx="1879550" cy="1193453"/>
          </a:xfrm>
          <a:prstGeom prst="roundRect">
            <a:avLst>
              <a:gd name="adj" fmla="val 6385"/>
            </a:avLst>
          </a:prstGeom>
          <a:solidFill>
            <a:srgbClr val="1A1A2E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4318" y="3103811"/>
            <a:ext cx="158681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4318" y="3440311"/>
            <a:ext cx="1586814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Autograd：运算符重载构建 DAG + 拓扑排序逆序应用链式法则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90651" y="2941886"/>
            <a:ext cx="1879699" cy="1193453"/>
          </a:xfrm>
          <a:prstGeom prst="roundRect">
            <a:avLst>
              <a:gd name="adj" fmla="val 6385"/>
            </a:avLst>
          </a:prstGeom>
          <a:solidFill>
            <a:srgbClr val="1A1A2E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37018" y="3103811"/>
            <a:ext cx="15869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37018" y="3440311"/>
            <a:ext cx="1586966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实现 token 间信息交换，MLP 做逐 token 非线性变换，残差保梯度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73501" y="2941886"/>
            <a:ext cx="1879699" cy="1193453"/>
          </a:xfrm>
          <a:prstGeom prst="roundRect">
            <a:avLst>
              <a:gd name="adj" fmla="val 6385"/>
            </a:avLst>
          </a:prstGeom>
          <a:solidFill>
            <a:srgbClr val="1A1A2E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9867" y="3103811"/>
            <a:ext cx="15869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19867" y="3440311"/>
            <a:ext cx="1586966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行 = 完整的 pretrain + inference pipeline，与 GPT-2 算法一致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56350" y="2941886"/>
            <a:ext cx="1879699" cy="1193453"/>
          </a:xfrm>
          <a:prstGeom prst="roundRect">
            <a:avLst>
              <a:gd name="adj" fmla="val 6385"/>
            </a:avLst>
          </a:prstGeom>
          <a:solidFill>
            <a:srgbClr val="1A1A2E"/>
          </a:solidFill>
          <a:ln w="9525">
            <a:solidFill>
              <a:srgbClr val="2A2A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02717" y="3103811"/>
            <a:ext cx="15869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6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02717" y="3440311"/>
            <a:ext cx="1586966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只是相同算法在数据/参数/算力上的 10^7x 放大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microgpt - 200行纯Python GPT 直觉式讲解</dc:title>
  <dc:subject>PptxGenJS Presentation</dc:subject>
  <dc:creator>Based on Andrej Karpathy</dc:creator>
  <cp:lastModifiedBy>Based on Andrej Karpathy</cp:lastModifiedBy>
  <cp:revision>1</cp:revision>
  <dcterms:created xsi:type="dcterms:W3CDTF">2026-03-24T05:59:03Z</dcterms:created>
  <dcterms:modified xsi:type="dcterms:W3CDTF">2026-03-24T05:59:03Z</dcterms:modified>
</cp:coreProperties>
</file>